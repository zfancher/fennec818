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B32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64008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ADS PLUS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" y="53035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C9A023"/>
                </a:solidFill>
              </a:rPr>
              <a:t>Innovation Proposal  |  USACE Regulatory Program  |  Arid West Region  |  June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914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FFFFFF"/>
                </a:solidFill>
              </a:rPr>
              <a:t>UNCLASSIFIED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50040" y="621792"/>
            <a:ext cx="3474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BEBEC3"/>
                </a:solidFill>
              </a:rPr>
              <a:t>1 /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1024128"/>
            <a:ext cx="8686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B325F"/>
                </a:solidFill>
              </a:rPr>
              <a:t>THE ADMINISTRATIVE BURDEN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" y="1481328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333333"/>
                </a:solidFill>
              </a:rPr>
              <a:t>Why the current digital delineation workflow creates mission-critical obstacles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801368"/>
            <a:ext cx="11795760" cy="27432"/>
          </a:xfrm>
          <a:prstGeom prst="rect">
            <a:avLst/>
          </a:prstGeom>
          <a:solidFill>
            <a:srgbClr val="C9A0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82880" y="1892807"/>
            <a:ext cx="5029200" cy="4645152"/>
          </a:xfrm>
          <a:prstGeom prst="rect">
            <a:avLst/>
          </a:prstGeom>
          <a:solidFill>
            <a:srgbClr val="FFFFFF"/>
          </a:solidFill>
          <a:ln w="6350">
            <a:solidFill>
              <a:srgbClr val="1B32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1993392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1B325F"/>
                </a:solidFill>
              </a:rPr>
              <a:t>CURRENT THREE-TOOL WORKFLOW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2231136"/>
            <a:ext cx="4754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948F8A"/>
                </a:solidFill>
              </a:rPr>
              <a:t>(Survey 123  →  NRV  →  ADS Excel  →  ENG 6116-1)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" y="2514600"/>
            <a:ext cx="658368" cy="310896"/>
          </a:xfrm>
          <a:prstGeom prst="roundRect">
            <a:avLst/>
          </a:prstGeom>
          <a:solidFill>
            <a:srgbClr val="4B5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4320" y="2551176"/>
            <a:ext cx="658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FIELD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05840" y="2514600"/>
            <a:ext cx="4041648" cy="310896"/>
          </a:xfrm>
          <a:prstGeom prst="rect">
            <a:avLst/>
          </a:prstGeom>
          <a:solidFill>
            <a:srgbClr val="4B5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2551176"/>
            <a:ext cx="39776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Survey 123 (Esri Mobile)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2862072"/>
            <a:ext cx="4023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A02323"/>
                </a:solidFill>
              </a:rPr>
              <a:t>No auto-inference  •  No QC checks  •  No guidance  •  Manual only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176272" y="2926080"/>
            <a:ext cx="82296" cy="320040"/>
          </a:xfrm>
          <a:prstGeom prst="rect">
            <a:avLst/>
          </a:prstGeom>
          <a:solidFill>
            <a:srgbClr val="1B32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103120" y="3227832"/>
            <a:ext cx="228600" cy="82296"/>
          </a:xfrm>
          <a:prstGeom prst="rect">
            <a:avLst/>
          </a:prstGeom>
          <a:solidFill>
            <a:srgbClr val="1B32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274320" y="3429000"/>
            <a:ext cx="658368" cy="310896"/>
          </a:xfrm>
          <a:prstGeom prst="roundRect">
            <a:avLst/>
          </a:prstGeom>
          <a:solidFill>
            <a:srgbClr val="4650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4320" y="3465576"/>
            <a:ext cx="658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OFFICE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05840" y="3429000"/>
            <a:ext cx="4041648" cy="310896"/>
          </a:xfrm>
          <a:prstGeom prst="rect">
            <a:avLst/>
          </a:prstGeom>
          <a:solidFill>
            <a:srgbClr val="4650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51560" y="3465576"/>
            <a:ext cx="39776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National Regulatory Viewer (NRV) Upload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3776472"/>
            <a:ext cx="4023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A02323"/>
                </a:solidFill>
              </a:rPr>
              <a:t>Internet required  •  Post-field only  •  Manual data transfer step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176272" y="3840480"/>
            <a:ext cx="82296" cy="320040"/>
          </a:xfrm>
          <a:prstGeom prst="rect">
            <a:avLst/>
          </a:prstGeom>
          <a:solidFill>
            <a:srgbClr val="1B32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103120" y="4142232"/>
            <a:ext cx="228600" cy="82296"/>
          </a:xfrm>
          <a:prstGeom prst="rect">
            <a:avLst/>
          </a:prstGeom>
          <a:solidFill>
            <a:srgbClr val="1B32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274320" y="4343400"/>
            <a:ext cx="658368" cy="310896"/>
          </a:xfrm>
          <a:prstGeom prst="roundRect">
            <a:avLst/>
          </a:prstGeom>
          <a:solidFill>
            <a:srgbClr val="4650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4320" y="4379976"/>
            <a:ext cx="658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OFFICE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05840" y="4343400"/>
            <a:ext cx="4041648" cy="310896"/>
          </a:xfrm>
          <a:prstGeom prst="rect">
            <a:avLst/>
          </a:prstGeom>
          <a:solidFill>
            <a:srgbClr val="4650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51560" y="4379976"/>
            <a:ext cx="39776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ADS Excel Workbook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" y="4690872"/>
            <a:ext cx="4023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A02323"/>
                </a:solidFill>
              </a:rPr>
              <a:t>Laptop required  •  Formula-fragile  •  No field optimization  •  No camera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74320" y="5257800"/>
            <a:ext cx="658368" cy="310896"/>
          </a:xfrm>
          <a:prstGeom prst="roundRect">
            <a:avLst/>
          </a:prstGeom>
          <a:solidFill>
            <a:srgbClr val="1B32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4320" y="5294376"/>
            <a:ext cx="658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OUTPUT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05840" y="5257800"/>
            <a:ext cx="4041648" cy="310896"/>
          </a:xfrm>
          <a:prstGeom prst="rect">
            <a:avLst/>
          </a:prstGeom>
          <a:solidFill>
            <a:srgbClr val="1B32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51560" y="5294376"/>
            <a:ext cx="39776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ENG Form 6116-1 Output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" y="5605272"/>
            <a:ext cx="4023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A02323"/>
                </a:solidFill>
              </a:rPr>
              <a:t>Risk of Survey 123 / ADS data contradictions  •  No in-field output possible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394960" y="1892807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B325F"/>
                </a:solidFill>
              </a:rPr>
              <a:t>⚠  KEY PAIN POINTS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394960" y="2304288"/>
            <a:ext cx="3337560" cy="566928"/>
          </a:xfrm>
          <a:prstGeom prst="rect">
            <a:avLst/>
          </a:prstGeom>
          <a:solidFill>
            <a:srgbClr val="1B32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440680" y="2331720"/>
            <a:ext cx="3246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C9A023"/>
                </a:solidFill>
              </a:rPr>
              <a:t>30–60 min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40680" y="2596896"/>
            <a:ext cx="32461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post-field re-entry per delineation point — before any inference is available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394960" y="2962656"/>
            <a:ext cx="3337560" cy="566928"/>
          </a:xfrm>
          <a:prstGeom prst="rect">
            <a:avLst/>
          </a:prstGeom>
          <a:solidFill>
            <a:srgbClr val="1B32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440680" y="2990088"/>
            <a:ext cx="3246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C9A023"/>
                </a:solidFill>
              </a:rPr>
              <a:t>Silent data</a:t>
            </a:r>
          </a:p>
          <a:p>
            <a:pPr algn="l"/>
            <a:r>
              <a:rPr sz="1050" b="1" i="0">
                <a:solidFill>
                  <a:srgbClr val="C9A023"/>
                </a:solidFill>
              </a:rPr>
              <a:t>conflicts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40680" y="3255264"/>
            <a:ext cx="32461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Survey 123 manual selections can contradict ADS auto-inference on the same data with no alert on the final 6116-1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394960" y="3621024"/>
            <a:ext cx="3337560" cy="566928"/>
          </a:xfrm>
          <a:prstGeom prst="rect">
            <a:avLst/>
          </a:prstGeom>
          <a:solidFill>
            <a:srgbClr val="1B32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440680" y="3648456"/>
            <a:ext cx="3246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C9A023"/>
                </a:solidFill>
              </a:rPr>
              <a:t>Formula</a:t>
            </a:r>
          </a:p>
          <a:p>
            <a:pPr algn="l"/>
            <a:r>
              <a:rPr sz="1050" b="1" i="0">
                <a:solidFill>
                  <a:srgbClr val="C9A023"/>
                </a:solidFill>
              </a:rPr>
              <a:t>fragility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40680" y="3913632"/>
            <a:ext cx="32461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ADS Excel formula network silently corrupted by routine copy-paste or data entry — wrong output, no warning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394960" y="4279392"/>
            <a:ext cx="3337560" cy="566928"/>
          </a:xfrm>
          <a:prstGeom prst="rect">
            <a:avLst/>
          </a:prstGeom>
          <a:solidFill>
            <a:srgbClr val="1B32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440680" y="4306824"/>
            <a:ext cx="3246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C9A023"/>
                </a:solidFill>
              </a:rPr>
              <a:t>Zero field</a:t>
            </a:r>
          </a:p>
          <a:p>
            <a:pPr algn="l"/>
            <a:r>
              <a:rPr sz="1050" b="1" i="0">
                <a:solidFill>
                  <a:srgbClr val="C9A023"/>
                </a:solidFill>
              </a:rPr>
              <a:t>guidance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40680" y="4572000"/>
            <a:ext cx="32461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No tool explains why an indicator fires or fails — no real-time QC or reference system in remote terrain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394960" y="4937759"/>
            <a:ext cx="3337560" cy="566928"/>
          </a:xfrm>
          <a:prstGeom prst="rect">
            <a:avLst/>
          </a:prstGeom>
          <a:solidFill>
            <a:srgbClr val="1B32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440680" y="4965192"/>
            <a:ext cx="3246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C9A023"/>
                </a:solidFill>
              </a:rPr>
              <a:t>Physical</a:t>
            </a:r>
          </a:p>
          <a:p>
            <a:pPr algn="l"/>
            <a:r>
              <a:rPr sz="1050" b="1" i="0">
                <a:solidFill>
                  <a:srgbClr val="C9A023"/>
                </a:solidFill>
              </a:rPr>
              <a:t>Munsell charts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440680" y="5230368"/>
            <a:ext cx="32461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Soil color requires a separate, subjectively-read chart — no camera tool exists in any current USACE system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394960" y="5596127"/>
            <a:ext cx="3337560" cy="566928"/>
          </a:xfrm>
          <a:prstGeom prst="rect">
            <a:avLst/>
          </a:prstGeom>
          <a:solidFill>
            <a:srgbClr val="1B32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440680" y="5623559"/>
            <a:ext cx="3246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C9A023"/>
                </a:solidFill>
              </a:rPr>
              <a:t>Connectivity</a:t>
            </a:r>
          </a:p>
          <a:p>
            <a:pPr algn="l"/>
            <a:r>
              <a:rPr sz="1050" b="1" i="0">
                <a:solidFill>
                  <a:srgbClr val="C9A023"/>
                </a:solidFill>
              </a:rPr>
              <a:t>dependency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440680" y="5888736"/>
            <a:ext cx="32461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Survey 123 requires internet — creating data gaps in remote Arid West terrain where cell coverage is absent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823960" y="1892807"/>
            <a:ext cx="3200400" cy="4645152"/>
          </a:xfrm>
          <a:prstGeom prst="rect">
            <a:avLst/>
          </a:prstGeom>
          <a:solidFill>
            <a:srgbClr val="1B32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961120" y="1975104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9A023"/>
                </a:solidFill>
              </a:rPr>
              <a:t>MISSION IMPACT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942832" y="2331720"/>
            <a:ext cx="297180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This fragmented workflow consumes significant staff time, introduces structural data quality risks, and limits USACE regulatory staff from producing timely, defensible wetland determinations in the field.</a:t>
            </a:r>
          </a:p>
          <a:p>
            <a:pPr algn="l"/>
            <a:r>
              <a:rPr sz="950" b="0" i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950" b="0" i="0">
                <a:solidFill>
                  <a:srgbClr val="FFFFFF"/>
                </a:solidFill>
              </a:rPr>
              <a:t>The multi-tool pipeline produces regulatory outputs through a process with no integrated QC, no field verification, and no transparent chain of reasoning from field data to final determination.</a:t>
            </a:r>
          </a:p>
          <a:p>
            <a:pPr algn="l"/>
            <a:r>
              <a:rPr sz="950" b="0" i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950" b="0" i="0">
                <a:solidFill>
                  <a:srgbClr val="FFFFFF"/>
                </a:solidFill>
              </a:rPr>
              <a:t>Every sample point in the Arid West carries this overhead. Across a delineation season of dozens of points, the cumulative burden is substantial and error risk compounds with each transfer step.</a:t>
            </a:r>
          </a:p>
          <a:p>
            <a:pPr algn="l"/>
            <a:r>
              <a:rPr sz="950" b="0" i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950" b="0" i="0">
                <a:solidFill>
                  <a:srgbClr val="FFFFFF"/>
                </a:solidFill>
              </a:rPr>
              <a:t>The current toolset was not designed for the field delineator. ADS Plus was.</a:t>
            </a:r>
          </a:p>
        </p:txBody>
      </p:sp>
      <p:sp>
        <p:nvSpPr>
          <p:cNvPr id="60" name="Rectangle 59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B32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82880" y="6583680"/>
            <a:ext cx="11887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BEBEC3"/>
                </a:solidFill>
              </a:rPr>
              <a:t>ADS Plus  |  A Next-Generation Wetland Delineation Support Tool  |  USACE Regulatory Program  |  UNCLASSIFIED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4B5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64008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ADS PLUS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" y="53035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C9A023"/>
                </a:solidFill>
              </a:rPr>
              <a:t>Innovation Proposal  |  USACE Regulatory Program  |  Arid West Region  |  June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914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FFFFFF"/>
                </a:solidFill>
              </a:rPr>
              <a:t>UNCLASSIFIED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50040" y="621792"/>
            <a:ext cx="3474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BEBEC3"/>
                </a:solidFill>
              </a:rPr>
              <a:t>2 /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1024128"/>
            <a:ext cx="9144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4B5320"/>
                </a:solidFill>
              </a:rPr>
              <a:t>ONE APP.  ONE SESSION.  ONE FORM.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" y="14813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333333"/>
                </a:solidFill>
              </a:rPr>
              <a:t>ADS Plus consolidates the entire delineation workflow — vegetation, soils, hydrology, inference, and output — in a single offline-capable app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801368"/>
            <a:ext cx="11795760" cy="27432"/>
          </a:xfrm>
          <a:prstGeom prst="rect">
            <a:avLst/>
          </a:prstGeom>
          <a:solidFill>
            <a:srgbClr val="C9A0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82880" y="1892807"/>
            <a:ext cx="6035040" cy="4645152"/>
          </a:xfrm>
          <a:prstGeom prst="rect">
            <a:avLst/>
          </a:prstGeom>
          <a:solidFill>
            <a:srgbClr val="FFFFFF"/>
          </a:solidFill>
          <a:ln w="6350">
            <a:solidFill>
              <a:srgbClr val="4B53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1993392"/>
            <a:ext cx="5760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B5320"/>
                </a:solidFill>
              </a:rPr>
              <a:t>CAPABILITIES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8600" y="2286000"/>
            <a:ext cx="54864" cy="658368"/>
          </a:xfrm>
          <a:prstGeom prst="rect">
            <a:avLst/>
          </a:prstGeom>
          <a:solidFill>
            <a:srgbClr val="4B5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7472" y="2286000"/>
            <a:ext cx="5806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4B5320"/>
                </a:solidFill>
              </a:rPr>
              <a:t>AI Camera: Color Correction Matrix (CCM)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" y="2532888"/>
            <a:ext cx="5806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33333"/>
                </a:solidFill>
              </a:rPr>
              <a:t>Printed reference card with known Lab values → per-frame least-squares regression → 3×3 CCM correcting camera spectral response for any field lighting. Enables accurate Munsell color matching in sun, shade, or mixed light with no user action. Replaces subjective physical chart reading.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8600" y="3419856"/>
            <a:ext cx="54864" cy="658368"/>
          </a:xfrm>
          <a:prstGeom prst="rect">
            <a:avLst/>
          </a:prstGeom>
          <a:solidFill>
            <a:srgbClr val="4B5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7472" y="3419856"/>
            <a:ext cx="5806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4B5320"/>
                </a:solidFill>
              </a:rPr>
              <a:t>AI Camera: Automated Redox Detection (SoilAnalyzeCapture)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" y="3666744"/>
            <a:ext cx="5806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33333"/>
                </a:solidFill>
              </a:rPr>
              <a:t>K-means++ clustering (K=6) segments full color distribution of a soil ped face. Each cluster matched to Munsell chip via CIE76 ΔE. Concentrations classified by USDA Table A1 contrast; depletions by Munsell chroma. Returns matrix color, feature type, Munsell notation, and % area — from a single photograph. No equivalent exists in any current USACE field tool.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28600" y="4553712"/>
            <a:ext cx="54864" cy="658368"/>
          </a:xfrm>
          <a:prstGeom prst="rect">
            <a:avLst/>
          </a:prstGeom>
          <a:solidFill>
            <a:srgbClr val="4B5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7472" y="4553712"/>
            <a:ext cx="5806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4B5320"/>
                </a:solidFill>
              </a:rPr>
              <a:t>Automated Indicator Inference with Reason Strings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7472" y="4800600"/>
            <a:ext cx="5806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33333"/>
                </a:solidFill>
              </a:rPr>
              <a:t>Evaluates all applicable hydric soil and hydrology indicators from entered data. Returns plain-language explanations: which horizon at which depth with which measured properties triggered each indicator. Supports documentation and accelerates delineator training.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28600" y="5687568"/>
            <a:ext cx="54864" cy="658368"/>
          </a:xfrm>
          <a:prstGeom prst="rect">
            <a:avLst/>
          </a:prstGeom>
          <a:solidFill>
            <a:srgbClr val="4B5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7472" y="5687568"/>
            <a:ext cx="5806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4B5320"/>
                </a:solidFill>
              </a:rPr>
              <a:t>Data Consistency Enforcement &amp; In-App PDF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7472" y="5934456"/>
            <a:ext cx="5806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33333"/>
                </a:solidFill>
              </a:rPr>
              <a:t>Real-time warnings when manually selected indicators conflict with entered data, LRR rules, or chroma requirements. In-app ENG Form 6116-1 PDF generated directly — no NRV upload, no post-field transfer, no second device. Complete offline operation via single HTML file.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82512" y="1892807"/>
            <a:ext cx="5650992" cy="2359152"/>
          </a:xfrm>
          <a:prstGeom prst="rect">
            <a:avLst/>
          </a:prstGeom>
          <a:solidFill>
            <a:srgbClr val="1B32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92240" y="1956816"/>
            <a:ext cx="5440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C9A023"/>
                </a:solidFill>
              </a:rPr>
              <a:t>AI MODULE 1 — COLOR CALIBRATION REFERENCE CARD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2194560"/>
            <a:ext cx="5440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BEBEC3"/>
                </a:solidFill>
              </a:rPr>
              <a:t>Known Lab-value patches  •  CCM solved per frame via least-squares  •  Adapts to any field lighting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92240" y="2450592"/>
            <a:ext cx="3566160" cy="1627632"/>
          </a:xfrm>
          <a:prstGeom prst="rect">
            <a:avLst/>
          </a:prstGeom>
          <a:solidFill>
            <a:srgbClr val="F0EBE1"/>
          </a:solidFill>
          <a:ln w="19050">
            <a:solidFill>
              <a:srgbClr val="C8C3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65392" y="2523744"/>
            <a:ext cx="547116" cy="347472"/>
          </a:xfrm>
          <a:prstGeom prst="rect">
            <a:avLst/>
          </a:prstGeom>
          <a:solidFill>
            <a:srgbClr val="9B37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135367" y="2523744"/>
            <a:ext cx="547116" cy="347472"/>
          </a:xfrm>
          <a:prstGeom prst="rect">
            <a:avLst/>
          </a:prstGeom>
          <a:solidFill>
            <a:srgbClr val="B45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705343" y="2523744"/>
            <a:ext cx="547116" cy="347472"/>
          </a:xfrm>
          <a:prstGeom prst="rect">
            <a:avLst/>
          </a:prstGeom>
          <a:solidFill>
            <a:srgbClr val="C47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275319" y="2523744"/>
            <a:ext cx="547116" cy="347472"/>
          </a:xfrm>
          <a:prstGeom prst="rect">
            <a:avLst/>
          </a:prstGeom>
          <a:solidFill>
            <a:srgbClr val="CA8C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845295" y="2523744"/>
            <a:ext cx="547116" cy="347472"/>
          </a:xfrm>
          <a:prstGeom prst="rect">
            <a:avLst/>
          </a:prstGeom>
          <a:solidFill>
            <a:srgbClr val="C0A0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415272" y="2523744"/>
            <a:ext cx="547116" cy="347472"/>
          </a:xfrm>
          <a:prstGeom prst="rect">
            <a:avLst/>
          </a:prstGeom>
          <a:solidFill>
            <a:srgbClr val="B29B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565392" y="2894076"/>
            <a:ext cx="547116" cy="347472"/>
          </a:xfrm>
          <a:prstGeom prst="rect">
            <a:avLst/>
          </a:prstGeom>
          <a:solidFill>
            <a:srgbClr val="7855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135367" y="2894076"/>
            <a:ext cx="547116" cy="347472"/>
          </a:xfrm>
          <a:prstGeom prst="rect">
            <a:avLst/>
          </a:prstGeom>
          <a:solidFill>
            <a:srgbClr val="8C6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705343" y="2894076"/>
            <a:ext cx="547116" cy="347472"/>
          </a:xfrm>
          <a:prstGeom prst="rect">
            <a:avLst/>
          </a:prstGeom>
          <a:solidFill>
            <a:srgbClr val="9B7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275319" y="2894076"/>
            <a:ext cx="547116" cy="347472"/>
          </a:xfrm>
          <a:prstGeom prst="rect">
            <a:avLst/>
          </a:prstGeom>
          <a:solidFill>
            <a:srgbClr val="A5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845295" y="2894076"/>
            <a:ext cx="547116" cy="347472"/>
          </a:xfrm>
          <a:prstGeom prst="rect">
            <a:avLst/>
          </a:prstGeom>
          <a:solidFill>
            <a:srgbClr val="AA9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415272" y="2894076"/>
            <a:ext cx="547116" cy="347472"/>
          </a:xfrm>
          <a:prstGeom prst="rect">
            <a:avLst/>
          </a:prstGeom>
          <a:solidFill>
            <a:srgbClr val="AFA5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565392" y="3264408"/>
            <a:ext cx="547116" cy="347472"/>
          </a:xfrm>
          <a:prstGeom prst="rect">
            <a:avLst/>
          </a:prstGeom>
          <a:solidFill>
            <a:srgbClr val="504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135367" y="3264408"/>
            <a:ext cx="547116" cy="347472"/>
          </a:xfrm>
          <a:prstGeom prst="rect">
            <a:avLst/>
          </a:prstGeom>
          <a:solidFill>
            <a:srgbClr val="6E6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705343" y="3264408"/>
            <a:ext cx="547116" cy="347472"/>
          </a:xfrm>
          <a:prstGeom prst="rect">
            <a:avLst/>
          </a:prstGeom>
          <a:solidFill>
            <a:srgbClr val="8E8A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275319" y="3264408"/>
            <a:ext cx="547116" cy="347472"/>
          </a:xfrm>
          <a:prstGeom prst="rect">
            <a:avLst/>
          </a:prstGeom>
          <a:solidFill>
            <a:srgbClr val="AA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845295" y="3264408"/>
            <a:ext cx="547116" cy="347472"/>
          </a:xfrm>
          <a:prstGeom prst="rect">
            <a:avLst/>
          </a:prstGeom>
          <a:solidFill>
            <a:srgbClr val="C8C4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415272" y="3264408"/>
            <a:ext cx="547116" cy="347472"/>
          </a:xfrm>
          <a:prstGeom prst="rect">
            <a:avLst/>
          </a:prstGeom>
          <a:solidFill>
            <a:srgbClr val="E1D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565392" y="3634740"/>
            <a:ext cx="547116" cy="347472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135367" y="3634740"/>
            <a:ext cx="547116" cy="347472"/>
          </a:xfrm>
          <a:prstGeom prst="rect">
            <a:avLst/>
          </a:prstGeom>
          <a:solidFill>
            <a:srgbClr val="443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7705343" y="3634740"/>
            <a:ext cx="547116" cy="347472"/>
          </a:xfrm>
          <a:prstGeom prst="rect">
            <a:avLst/>
          </a:prstGeom>
          <a:solidFill>
            <a:srgbClr val="6C60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275319" y="3634740"/>
            <a:ext cx="547116" cy="347472"/>
          </a:xfrm>
          <a:prstGeom prst="rect">
            <a:avLst/>
          </a:prstGeom>
          <a:solidFill>
            <a:srgbClr val="8E8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8845295" y="3634740"/>
            <a:ext cx="547116" cy="347472"/>
          </a:xfrm>
          <a:prstGeom prst="rect">
            <a:avLst/>
          </a:prstGeom>
          <a:solidFill>
            <a:srgbClr val="BCB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9415272" y="3634740"/>
            <a:ext cx="547116" cy="347472"/>
          </a:xfrm>
          <a:prstGeom prst="rect">
            <a:avLst/>
          </a:prstGeom>
          <a:solidFill>
            <a:srgbClr val="F0E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510527" y="2468880"/>
            <a:ext cx="137160" cy="13716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540703" y="2499055"/>
            <a:ext cx="76809" cy="7680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558991" y="2517343"/>
            <a:ext cx="40233" cy="40233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9902952" y="2468880"/>
            <a:ext cx="137160" cy="13716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9933127" y="2499055"/>
            <a:ext cx="76809" cy="7680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951415" y="2517343"/>
            <a:ext cx="40233" cy="40233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6510527" y="3922776"/>
            <a:ext cx="137160" cy="13716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6540703" y="3952951"/>
            <a:ext cx="76809" cy="7680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6558991" y="3971239"/>
            <a:ext cx="40233" cy="40233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9902952" y="3922776"/>
            <a:ext cx="137160" cy="13716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9933127" y="3952951"/>
            <a:ext cx="76809" cy="7680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9951415" y="3971239"/>
            <a:ext cx="40233" cy="40233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10168128" y="2487168"/>
            <a:ext cx="1737360" cy="329184"/>
          </a:xfrm>
          <a:prstGeom prst="rect">
            <a:avLst/>
          </a:prstGeom>
          <a:solidFill>
            <a:srgbClr val="1E6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0213848" y="2523744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✓  CCM DETECTED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213848" y="2852928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EBEC3"/>
                </a:solidFill>
              </a:rPr>
              <a:t>ΔE confidence: 2.1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213848" y="3035808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EBEC3"/>
                </a:solidFill>
              </a:rPr>
              <a:t>Sharpness check: PASS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213848" y="3218688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9A023"/>
                </a:solidFill>
              </a:rPr>
              <a:t>Lighting: FIELD CORRECTED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382512" y="4315968"/>
            <a:ext cx="5650992" cy="2221992"/>
          </a:xfrm>
          <a:prstGeom prst="rect">
            <a:avLst/>
          </a:prstGeom>
          <a:solidFill>
            <a:srgbClr val="1B32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492240" y="4379976"/>
            <a:ext cx="5440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C9A023"/>
                </a:solidFill>
              </a:rPr>
              <a:t>AI MODULE 2 — AUTOMATED REDOX DETECTION OVERLAY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492240" y="4617720"/>
            <a:ext cx="5440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BEBEC3"/>
                </a:solidFill>
              </a:rPr>
              <a:t>K-means++ clustering  •  USDA Table A1 contrast classification  •  Real-time slider exploration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510528" y="4864608"/>
            <a:ext cx="2880360" cy="1572768"/>
          </a:xfrm>
          <a:prstGeom prst="rect">
            <a:avLst/>
          </a:prstGeom>
          <a:solidFill>
            <a:srgbClr val="765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620256" y="4937760"/>
            <a:ext cx="475488" cy="219456"/>
          </a:xfrm>
          <a:prstGeom prst="rect">
            <a:avLst/>
          </a:prstGeom>
          <a:solidFill>
            <a:srgbClr val="C86E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7196328" y="4992624"/>
            <a:ext cx="393192" cy="256032"/>
          </a:xfrm>
          <a:prstGeom prst="rect">
            <a:avLst/>
          </a:prstGeom>
          <a:solidFill>
            <a:srgbClr val="C86E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766560" y="5340096"/>
            <a:ext cx="347472" cy="201168"/>
          </a:xfrm>
          <a:prstGeom prst="rect">
            <a:avLst/>
          </a:prstGeom>
          <a:solidFill>
            <a:srgbClr val="C86E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7680960" y="4901184"/>
            <a:ext cx="329184" cy="182880"/>
          </a:xfrm>
          <a:prstGeom prst="rect">
            <a:avLst/>
          </a:prstGeom>
          <a:solidFill>
            <a:srgbClr val="C86E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8110728" y="5266944"/>
            <a:ext cx="438912" cy="256032"/>
          </a:xfrm>
          <a:prstGeom prst="rect">
            <a:avLst/>
          </a:prstGeom>
          <a:solidFill>
            <a:srgbClr val="C86E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8412480" y="4937760"/>
            <a:ext cx="310896" cy="164592"/>
          </a:xfrm>
          <a:prstGeom prst="rect">
            <a:avLst/>
          </a:prstGeom>
          <a:solidFill>
            <a:srgbClr val="C86E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040880" y="5614416"/>
            <a:ext cx="384048" cy="201168"/>
          </a:xfrm>
          <a:prstGeom prst="rect">
            <a:avLst/>
          </a:prstGeom>
          <a:solidFill>
            <a:srgbClr val="C86E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863840" y="5522976"/>
            <a:ext cx="347472" cy="219456"/>
          </a:xfrm>
          <a:prstGeom prst="rect">
            <a:avLst/>
          </a:prstGeom>
          <a:solidFill>
            <a:srgbClr val="C86E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351776" y="6007608"/>
            <a:ext cx="274320" cy="182880"/>
          </a:xfrm>
          <a:prstGeom prst="rect">
            <a:avLst/>
          </a:prstGeom>
          <a:solidFill>
            <a:srgbClr val="C86E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8796528" y="5120640"/>
            <a:ext cx="475488" cy="329184"/>
          </a:xfrm>
          <a:prstGeom prst="rect">
            <a:avLst/>
          </a:prstGeom>
          <a:solidFill>
            <a:srgbClr val="008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8385048" y="5961888"/>
            <a:ext cx="566928" cy="274320"/>
          </a:xfrm>
          <a:prstGeom prst="rect">
            <a:avLst/>
          </a:prstGeom>
          <a:solidFill>
            <a:srgbClr val="008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6565392" y="4901184"/>
            <a:ext cx="2770632" cy="1499616"/>
          </a:xfrm>
          <a:prstGeom prst="rect">
            <a:avLst/>
          </a:prstGeom>
          <a:noFill/>
          <a:ln w="19050">
            <a:solidFill>
              <a:srgbClr val="FFD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9491472" y="4864608"/>
            <a:ext cx="24871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C9A023"/>
                </a:solidFill>
              </a:rPr>
              <a:t>RESULTS</a:t>
            </a:r>
          </a:p>
        </p:txBody>
      </p:sp>
      <p:sp>
        <p:nvSpPr>
          <p:cNvPr id="87" name="Rectangle 86"/>
          <p:cNvSpPr/>
          <p:nvPr/>
        </p:nvSpPr>
        <p:spPr>
          <a:xfrm>
            <a:off x="9491472" y="5120640"/>
            <a:ext cx="2468880" cy="201168"/>
          </a:xfrm>
          <a:prstGeom prst="rect">
            <a:avLst/>
          </a:prstGeom>
          <a:solidFill>
            <a:srgbClr val="765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9528048" y="5138928"/>
            <a:ext cx="23957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Matrix  10YR 4/2   58%</a:t>
            </a:r>
          </a:p>
        </p:txBody>
      </p:sp>
      <p:sp>
        <p:nvSpPr>
          <p:cNvPr id="89" name="Rectangle 88"/>
          <p:cNvSpPr/>
          <p:nvPr/>
        </p:nvSpPr>
        <p:spPr>
          <a:xfrm>
            <a:off x="9491472" y="5358384"/>
            <a:ext cx="164592" cy="164592"/>
          </a:xfrm>
          <a:prstGeom prst="rect">
            <a:avLst/>
          </a:prstGeom>
          <a:solidFill>
            <a:srgbClr val="C86E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9692640" y="5349240"/>
            <a:ext cx="2240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Conc  7.5YR 4/6   22%  Distinct</a:t>
            </a:r>
          </a:p>
        </p:txBody>
      </p:sp>
      <p:sp>
        <p:nvSpPr>
          <p:cNvPr id="91" name="Rectangle 90"/>
          <p:cNvSpPr/>
          <p:nvPr/>
        </p:nvSpPr>
        <p:spPr>
          <a:xfrm>
            <a:off x="9491472" y="5596128"/>
            <a:ext cx="164592" cy="164592"/>
          </a:xfrm>
          <a:prstGeom prst="rect">
            <a:avLst/>
          </a:prstGeom>
          <a:solidFill>
            <a:srgbClr val="008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9692640" y="5586984"/>
            <a:ext cx="2240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Depl  10YR 5/1   9%</a:t>
            </a:r>
          </a:p>
        </p:txBody>
      </p:sp>
      <p:sp>
        <p:nvSpPr>
          <p:cNvPr id="93" name="Rectangle 92"/>
          <p:cNvSpPr/>
          <p:nvPr/>
        </p:nvSpPr>
        <p:spPr>
          <a:xfrm>
            <a:off x="9491472" y="5870448"/>
            <a:ext cx="2468880" cy="274320"/>
          </a:xfrm>
          <a:prstGeom prst="rect">
            <a:avLst/>
          </a:prstGeom>
          <a:solidFill>
            <a:srgbClr val="1E6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9528048" y="5907024"/>
            <a:ext cx="239572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✓  F3 Depleted Matrix AUTO-INFERRED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528048" y="6181344"/>
            <a:ext cx="23957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BEBEC3"/>
                </a:solidFill>
              </a:rPr>
              <a:t>Chroma ≤2  •  ≥6 in.  •  above-layer check passed</a:t>
            </a:r>
          </a:p>
        </p:txBody>
      </p:sp>
      <p:sp>
        <p:nvSpPr>
          <p:cNvPr id="96" name="Rectangle 95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4B5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182880" y="6583680"/>
            <a:ext cx="11887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✓ Eliminates multi-tool pipeline    ✓ AI-powered camera soil color analysis    ✓ Real-time indicator inference with explanations    ✓ In-app ENG Form 6116-1 PDF    ✓ No infrastructure required    ✓ Fully offline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